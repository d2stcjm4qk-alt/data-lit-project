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61" r:id="rId1"/>
  </p:sldMasterIdLst>
  <p:notesMasterIdLst>
    <p:notesMasterId r:id="rId8"/>
  </p:notesMasterIdLst>
  <p:sldIdLst>
    <p:sldId id="731" r:id="rId2"/>
    <p:sldId id="746" r:id="rId3"/>
    <p:sldId id="744" r:id="rId4"/>
    <p:sldId id="745" r:id="rId5"/>
    <p:sldId id="747" r:id="rId6"/>
    <p:sldId id="748" r:id="rId7"/>
  </p:sldIdLst>
  <p:sldSz cx="12192000" cy="6858000"/>
  <p:notesSz cx="7099300" cy="10234613"/>
  <p:defaultTextStyle>
    <a:defPPr>
      <a:defRPr lang="en-GB"/>
    </a:defPPr>
    <a:lvl1pPr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1pPr>
    <a:lvl2pPr marL="4572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2pPr>
    <a:lvl3pPr marL="9144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3pPr>
    <a:lvl4pPr marL="13716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4pPr>
    <a:lvl5pPr marL="18288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83">
          <p15:clr>
            <a:srgbClr val="A4A3A4"/>
          </p15:clr>
        </p15:guide>
        <p15:guide id="2" pos="226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endrik" initials="H" lastIdx="2" clrIdx="0">
    <p:extLst>
      <p:ext uri="{19B8F6BF-5375-455C-9EA6-DF929625EA0E}">
        <p15:presenceInfo xmlns:p15="http://schemas.microsoft.com/office/powerpoint/2012/main" userId="Hendri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7030A0"/>
    <a:srgbClr val="00B0F0"/>
    <a:srgbClr val="000000"/>
    <a:srgbClr val="1A5136"/>
    <a:srgbClr val="003399"/>
    <a:srgbClr val="FFFF00"/>
    <a:srgbClr val="00CC99"/>
    <a:srgbClr val="FF6600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7"/>
    <p:restoredTop sz="93447" autoAdjust="0"/>
  </p:normalViewPr>
  <p:slideViewPr>
    <p:cSldViewPr snapToGrid="0">
      <p:cViewPr>
        <p:scale>
          <a:sx n="66" d="100"/>
          <a:sy n="66" d="100"/>
        </p:scale>
        <p:origin x="644" y="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83"/>
        <p:guide pos="226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AutoShape 1"/>
          <p:cNvSpPr>
            <a:spLocks noChangeArrowheads="1"/>
          </p:cNvSpPr>
          <p:nvPr/>
        </p:nvSpPr>
        <p:spPr bwMode="auto">
          <a:xfrm>
            <a:off x="0" y="0"/>
            <a:ext cx="7100888" cy="10234613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de-DE"/>
          </a:p>
        </p:txBody>
      </p:sp>
      <p:sp>
        <p:nvSpPr>
          <p:cNvPr id="2050" name="Rectangle 2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90863" cy="47307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t" anchorCtr="0" compatLnSpc="1">
            <a:prstTxWarp prst="textNoShape">
              <a:avLst/>
            </a:prstTxWarp>
          </a:bodyPr>
          <a:lstStyle>
            <a:lvl1pPr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986213" y="0"/>
            <a:ext cx="3090862" cy="47307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t" anchorCtr="0" compatLnSpc="1">
            <a:prstTxWarp prst="textNoShape">
              <a:avLst/>
            </a:prstTxWarp>
          </a:bodyPr>
          <a:lstStyle>
            <a:lvl1pPr algn="r"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9157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82563" y="796925"/>
            <a:ext cx="6799262" cy="38258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GB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974725" y="4859338"/>
            <a:ext cx="5207000" cy="4624387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/>
          </p:nvPr>
        </p:nvSpPr>
        <p:spPr bwMode="auto">
          <a:xfrm>
            <a:off x="0" y="9725025"/>
            <a:ext cx="3090863" cy="4762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b" anchorCtr="0" compatLnSpc="1">
            <a:prstTxWarp prst="textNoShape">
              <a:avLst/>
            </a:prstTxWarp>
          </a:bodyPr>
          <a:lstStyle>
            <a:lvl1pPr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986213" y="9725025"/>
            <a:ext cx="3090862" cy="4762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b" anchorCtr="0" compatLnSpc="1">
            <a:prstTxWarp prst="textNoShape">
              <a:avLst/>
            </a:prstTxWarp>
          </a:bodyPr>
          <a:lstStyle>
            <a:lvl1pPr algn="r"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A847F187-CE78-439E-AE54-2FD9DED80E4F}" type="slidenum">
              <a:rPr lang="en-GB"/>
              <a:pPr>
                <a:defRPr/>
              </a:pPr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629489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/>
          <a:p>
            <a:fld id="{2870CFB1-A7FA-43C4-BFEC-2FB879E2036E}" type="slidenum">
              <a:rPr lang="en-GB" smtClean="0"/>
              <a:pPr/>
              <a:t>1</a:t>
            </a:fld>
            <a:endParaRPr lang="en-GB"/>
          </a:p>
        </p:txBody>
      </p:sp>
      <p:sp>
        <p:nvSpPr>
          <p:cNvPr id="5017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80975" y="796925"/>
            <a:ext cx="6802438" cy="3827463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GB"/>
          </a:p>
        </p:txBody>
      </p:sp>
      <p:sp>
        <p:nvSpPr>
          <p:cNvPr id="5018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74725" y="4859338"/>
            <a:ext cx="5208588" cy="4627562"/>
          </a:xfrm>
          <a:noFill/>
          <a:ln/>
        </p:spPr>
        <p:txBody>
          <a:bodyPr wrap="none" lIns="95110" tIns="47554" rIns="95110" bIns="47554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67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xEKUT_WortBildMarke_W_RG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51" y="358775"/>
            <a:ext cx="2822448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958851" y="1258888"/>
            <a:ext cx="102743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007836" y="4321717"/>
            <a:ext cx="10267949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de-DE" altLang="en-US" noProof="0"/>
          </a:p>
        </p:txBody>
      </p:sp>
      <p:pic>
        <p:nvPicPr>
          <p:cNvPr id="4147" name="Picture 51" descr="UT_WBMW_7scienc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299" y="446357"/>
            <a:ext cx="3712178" cy="556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965202" y="2793346"/>
            <a:ext cx="10267949" cy="677108"/>
          </a:xfrm>
        </p:spPr>
        <p:txBody>
          <a:bodyPr/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39189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8851" y="286129"/>
            <a:ext cx="10267949" cy="400110"/>
          </a:xfrm>
        </p:spPr>
        <p:txBody>
          <a:bodyPr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885964" y="6519863"/>
            <a:ext cx="3292843" cy="264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Data Literacy - Winter 25/26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10939670" y="6519862"/>
            <a:ext cx="372218" cy="2640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fld id="{602BA725-6141-4922-B453-29D83426F033}" type="slidenum">
              <a:rPr lang="de-DE" sz="1200" smtClean="0"/>
              <a:pPr algn="r"/>
              <a:t>‹Nr.›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478477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639146"/>
            <a:ext cx="10515600" cy="923330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329820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079947"/>
            <a:ext cx="5035549" cy="523376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079946"/>
            <a:ext cx="5035551" cy="523376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285834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17466"/>
            <a:ext cx="10515600" cy="369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898245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1852706"/>
            <a:ext cx="5158316" cy="44827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898245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852706"/>
            <a:ext cx="5183717" cy="44827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384888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499935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el und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sz="quarter"/>
          </p:nvPr>
        </p:nvSpPr>
        <p:spPr>
          <a:xfrm>
            <a:off x="609600" y="388878"/>
            <a:ext cx="10972800" cy="40011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2"/>
          </p:nvPr>
        </p:nvSpPr>
        <p:spPr>
          <a:xfrm>
            <a:off x="6197600" y="12192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3"/>
          </p:nvPr>
        </p:nvSpPr>
        <p:spPr>
          <a:xfrm>
            <a:off x="609600" y="39243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7600" y="39243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6364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958851" y="809625"/>
            <a:ext cx="102743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958852" y="286137"/>
            <a:ext cx="915931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 altLang="en-US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/>
        </p:nvSpPr>
        <p:spPr bwMode="auto">
          <a:xfrm>
            <a:off x="958851" y="6426711"/>
            <a:ext cx="102743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58851" y="1014412"/>
            <a:ext cx="10274300" cy="53191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Textmasterformate durch Klicken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</a:p>
        </p:txBody>
      </p:sp>
      <p:pic>
        <p:nvPicPr>
          <p:cNvPr id="13" name="Picture 12" descr="xEKUT_WortBildMarke_W_RGB"/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154" y="146191"/>
            <a:ext cx="1969879" cy="51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Line 17"/>
          <p:cNvSpPr>
            <a:spLocks noChangeShapeType="1"/>
          </p:cNvSpPr>
          <p:nvPr userDrawn="1"/>
        </p:nvSpPr>
        <p:spPr bwMode="auto">
          <a:xfrm>
            <a:off x="958851" y="6426711"/>
            <a:ext cx="102743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6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702587" y="6519863"/>
            <a:ext cx="530446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tabLst>
                <a:tab pos="7702550" algn="r"/>
              </a:tabLst>
              <a:defRPr sz="1200"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878127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9" r:id="rId7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SzPct val="8000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224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data.muenchen.de/fa_IR/dataset/bevoelkerung-stadtbezirken" TargetMode="External"/><Relationship Id="rId13" Type="http://schemas.openxmlformats.org/officeDocument/2006/relationships/hyperlink" Target="https://www.ons.gov.uk/methodology/geography/geographicalproducts/digitalboundaries" TargetMode="External"/><Relationship Id="rId3" Type="http://schemas.openxmlformats.org/officeDocument/2006/relationships/hyperlink" Target="https://daten.gdz.bkg.bund.de/produkte/vg/vg250-ew_ebenen_1231/aktuell/" TargetMode="External"/><Relationship Id="rId7" Type="http://schemas.openxmlformats.org/officeDocument/2006/relationships/hyperlink" Target="https://www.destatis.de/DE/Themen/Laender-Regionen/Regionales/Gemeindeverzeichnis/Administrativ/04-kreise.html" TargetMode="External"/><Relationship Id="rId12" Type="http://schemas.openxmlformats.org/officeDocument/2006/relationships/hyperlink" Target="https://www.gov.uk/government/statistical-data-sets/reported-road-accidents-vehicles-and-casualties-tables-for-great-britain" TargetMode="External"/><Relationship Id="rId2" Type="http://schemas.openxmlformats.org/officeDocument/2006/relationships/hyperlink" Target="https://unfallatlas.statistikportal.d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en.berlin.de/datensaetze/rbs-bezirke-dezember-2014" TargetMode="External"/><Relationship Id="rId11" Type="http://schemas.openxmlformats.org/officeDocument/2006/relationships/hyperlink" Target="https://www.bast.de/DE/Publikationen/Statistik/Verkehrsdaten/Manuelle-Zaehlung.html?nn=419442" TargetMode="External"/><Relationship Id="rId5" Type="http://schemas.openxmlformats.org/officeDocument/2006/relationships/hyperlink" Target="https://hub.arcgis.com/maps/esri-de-content::stadtteile-hamburg" TargetMode="External"/><Relationship Id="rId10" Type="http://schemas.openxmlformats.org/officeDocument/2006/relationships/hyperlink" Target="https://www.statistik-berlin-brandenburg.de/a-i-5-hj" TargetMode="External"/><Relationship Id="rId4" Type="http://schemas.openxmlformats.org/officeDocument/2006/relationships/hyperlink" Target="https://hub.arcgis.com/datasets/esri-de-content::stadtbezirke-m%C3%BCnchen/about?uiVersion=content-views" TargetMode="External"/><Relationship Id="rId9" Type="http://schemas.openxmlformats.org/officeDocument/2006/relationships/hyperlink" Target="https://www.statistik-nord.de/zahlen-fakten/hamburger-melderegister/bevoelkerungsstand" TargetMode="External"/><Relationship Id="rId14" Type="http://schemas.openxmlformats.org/officeDocument/2006/relationships/hyperlink" Target="https://cy.ons.gov.uk/file?uri=/peoplepopulationandcommunity/populationandmigration/populationestimates/datasets/populationestimatesforukenglandandwalesscotlandandnorthernireland/mid2024/mye24tablesuk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543561" y="4815740"/>
            <a:ext cx="11104879" cy="374718"/>
          </a:xfrm>
        </p:spPr>
        <p:txBody>
          <a:bodyPr/>
          <a:lstStyle/>
          <a:p>
            <a:pPr algn="ctr"/>
            <a:endParaRPr lang="de-DE" dirty="0">
              <a:cs typeface="Arial"/>
            </a:endParaRPr>
          </a:p>
        </p:txBody>
      </p:sp>
      <p:sp>
        <p:nvSpPr>
          <p:cNvPr id="10242" name="Rectangle 1"/>
          <p:cNvSpPr>
            <a:spLocks noGrp="1" noChangeArrowheads="1"/>
          </p:cNvSpPr>
          <p:nvPr>
            <p:ph type="title"/>
          </p:nvPr>
        </p:nvSpPr>
        <p:spPr>
          <a:xfrm>
            <a:off x="592015" y="1763448"/>
            <a:ext cx="11007969" cy="1938992"/>
          </a:xfrm>
        </p:spPr>
        <p:txBody>
          <a:bodyPr/>
          <a:lstStyle/>
          <a:p>
            <a:r>
              <a:rPr lang="en-US" sz="2400" dirty="0"/>
              <a:t>Data Literacy – Project Status</a:t>
            </a:r>
            <a:br>
              <a:rPr lang="en-US" sz="2400" dirty="0"/>
            </a:br>
            <a:br>
              <a:rPr lang="en-US" sz="3000" dirty="0"/>
            </a:br>
            <a:r>
              <a:rPr lang="en-US" sz="3600" dirty="0"/>
              <a:t>Is street traffic in the UK more </a:t>
            </a:r>
            <a:br>
              <a:rPr lang="en-US" sz="3600" dirty="0"/>
            </a:br>
            <a:r>
              <a:rPr lang="en-US" sz="3600" dirty="0"/>
              <a:t>dangerous than in Germany?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5110595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0DEC-75B3-509B-5A66-FBB449D0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CAB69-E55D-F9E8-5732-E7C98A021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17F1A3-5054-1120-1E12-1D710521BD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8851" y="1039499"/>
            <a:ext cx="6434838" cy="4779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b="1" dirty="0"/>
              <a:t>Germany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Accidents: </a:t>
            </a:r>
            <a:r>
              <a:rPr lang="de-DE" sz="1600" dirty="0">
                <a:hlinkClick r:id="rId2"/>
              </a:rPr>
              <a:t>Unfallatlas Deutschland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Regions: </a:t>
            </a:r>
            <a:r>
              <a:rPr lang="en-US" sz="1600" dirty="0">
                <a:hlinkClick r:id="rId3"/>
              </a:rPr>
              <a:t>Germany</a:t>
            </a:r>
            <a:r>
              <a:rPr lang="en-US" sz="1600" dirty="0"/>
              <a:t>, </a:t>
            </a:r>
            <a:r>
              <a:rPr lang="en-US" sz="1600" dirty="0">
                <a:hlinkClick r:id="rId4"/>
              </a:rPr>
              <a:t>Munich</a:t>
            </a:r>
            <a:r>
              <a:rPr lang="en-US" sz="1600" dirty="0"/>
              <a:t>, </a:t>
            </a:r>
            <a:r>
              <a:rPr lang="en-US" sz="1600" dirty="0">
                <a:hlinkClick r:id="rId5"/>
              </a:rPr>
              <a:t>Hamburg</a:t>
            </a:r>
            <a:r>
              <a:rPr lang="en-US" sz="1600" dirty="0"/>
              <a:t>, </a:t>
            </a:r>
            <a:r>
              <a:rPr lang="en-US" sz="1600" dirty="0">
                <a:hlinkClick r:id="rId6"/>
              </a:rPr>
              <a:t>Berlin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Population: </a:t>
            </a:r>
            <a:r>
              <a:rPr lang="en-US" sz="1600" dirty="0">
                <a:hlinkClick r:id="rId7"/>
              </a:rPr>
              <a:t>Germany</a:t>
            </a:r>
            <a:r>
              <a:rPr lang="en-US" sz="1600" dirty="0"/>
              <a:t>, </a:t>
            </a:r>
            <a:r>
              <a:rPr lang="en-US" sz="1600" dirty="0">
                <a:hlinkClick r:id="rId8"/>
              </a:rPr>
              <a:t>Munich</a:t>
            </a:r>
            <a:r>
              <a:rPr lang="en-US" sz="1600" dirty="0"/>
              <a:t>, </a:t>
            </a:r>
            <a:r>
              <a:rPr lang="en-US" sz="1600" dirty="0">
                <a:hlinkClick r:id="rId9"/>
              </a:rPr>
              <a:t>Hamburg</a:t>
            </a:r>
            <a:r>
              <a:rPr lang="en-US" sz="1600" dirty="0"/>
              <a:t>, </a:t>
            </a:r>
            <a:r>
              <a:rPr lang="en-US" sz="1600" dirty="0">
                <a:hlinkClick r:id="rId10"/>
              </a:rPr>
              <a:t>Berlin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Traffic volume: </a:t>
            </a:r>
            <a:r>
              <a:rPr lang="en-US" sz="1600" dirty="0">
                <a:hlinkClick r:id="rId11"/>
              </a:rPr>
              <a:t>Bundesanstalt für </a:t>
            </a:r>
            <a:r>
              <a:rPr lang="en-US" sz="1600" dirty="0" err="1">
                <a:hlinkClick r:id="rId11"/>
              </a:rPr>
              <a:t>Straßen</a:t>
            </a:r>
            <a:r>
              <a:rPr lang="en-US" sz="1600" dirty="0">
                <a:hlinkClick r:id="rId11"/>
              </a:rPr>
              <a:t>- und </a:t>
            </a:r>
            <a:r>
              <a:rPr lang="en-US" sz="1600" dirty="0" err="1">
                <a:hlinkClick r:id="rId11"/>
              </a:rPr>
              <a:t>Verhekrswesen</a:t>
            </a:r>
            <a:endParaRPr lang="en-US" sz="1600" dirty="0"/>
          </a:p>
          <a:p>
            <a:pPr>
              <a:lnSpc>
                <a:spcPct val="150000"/>
              </a:lnSpc>
            </a:pPr>
            <a:endParaRPr lang="en-US" sz="18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800" b="1" dirty="0"/>
              <a:t>UK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Accidents: </a:t>
            </a:r>
            <a:r>
              <a:rPr lang="en-US" sz="1600" dirty="0">
                <a:hlinkClick r:id="rId12"/>
              </a:rPr>
              <a:t>GOV UK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Regions: </a:t>
            </a:r>
            <a:r>
              <a:rPr lang="en-US" sz="1600" dirty="0">
                <a:hlinkClick r:id="rId13"/>
              </a:rPr>
              <a:t>Office for National Statistics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Population: </a:t>
            </a:r>
            <a:r>
              <a:rPr lang="en-US" sz="1600" dirty="0">
                <a:hlinkClick r:id="rId14"/>
              </a:rPr>
              <a:t>Office for National Statistics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Traffic volume: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55587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F4CD7-16AD-6DAD-270E-733CC307F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050339-BF66-3524-2351-88DBEAC88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Normalization</a:t>
            </a:r>
            <a:endParaRPr lang="de-DE" dirty="0"/>
          </a:p>
        </p:txBody>
      </p:sp>
      <p:pic>
        <p:nvPicPr>
          <p:cNvPr id="6" name="Inhaltsplatzhalter 5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06D9B337-725D-1BF7-DD39-5442EEC1A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72"/>
          <a:stretch>
            <a:fillRect/>
          </a:stretch>
        </p:blipFill>
        <p:spPr>
          <a:xfrm>
            <a:off x="8618740" y="1629000"/>
            <a:ext cx="2156684" cy="3240000"/>
          </a:xfrm>
        </p:spPr>
      </p:pic>
      <p:pic>
        <p:nvPicPr>
          <p:cNvPr id="8" name="Grafik 7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3C02D176-8692-39A1-B1D8-60A6AA67AC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72"/>
          <a:stretch>
            <a:fillRect/>
          </a:stretch>
        </p:blipFill>
        <p:spPr>
          <a:xfrm>
            <a:off x="6092825" y="1629000"/>
            <a:ext cx="2156684" cy="3240000"/>
          </a:xfrm>
          <a:prstGeom prst="rect">
            <a:avLst/>
          </a:prstGeom>
        </p:spPr>
      </p:pic>
      <p:pic>
        <p:nvPicPr>
          <p:cNvPr id="10" name="Grafik 9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555DB610-60A7-3761-5A9F-B4BB4ACD20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39"/>
          <a:stretch>
            <a:fillRect/>
          </a:stretch>
        </p:blipFill>
        <p:spPr>
          <a:xfrm>
            <a:off x="3291015" y="1629000"/>
            <a:ext cx="2432579" cy="3240000"/>
          </a:xfrm>
          <a:prstGeom prst="rect">
            <a:avLst/>
          </a:prstGeom>
        </p:spPr>
      </p:pic>
      <p:pic>
        <p:nvPicPr>
          <p:cNvPr id="12" name="Grafik 11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01F9D650-3756-2FC6-2C49-0E3023ED458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39"/>
          <a:stretch>
            <a:fillRect/>
          </a:stretch>
        </p:blipFill>
        <p:spPr>
          <a:xfrm>
            <a:off x="709207" y="1629000"/>
            <a:ext cx="2432575" cy="3240000"/>
          </a:xfrm>
          <a:prstGeom prst="rect">
            <a:avLst/>
          </a:prstGeom>
        </p:spPr>
      </p:pic>
      <p:pic>
        <p:nvPicPr>
          <p:cNvPr id="13" name="Grafik 12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8C8EBE18-9612-C569-6F4A-C215310D093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24" t="12785" r="-2468" b="13970"/>
          <a:stretch>
            <a:fillRect/>
          </a:stretch>
        </p:blipFill>
        <p:spPr>
          <a:xfrm>
            <a:off x="10920508" y="1366787"/>
            <a:ext cx="754935" cy="3773104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AA2D910-1F46-253D-3938-C7E874C8333B}"/>
              </a:ext>
            </a:extLst>
          </p:cNvPr>
          <p:cNvSpPr txBox="1"/>
          <p:nvPr/>
        </p:nvSpPr>
        <p:spPr>
          <a:xfrm>
            <a:off x="709207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Germany regional population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787B2B1-E48F-C501-87D0-4B208B01B9AA}"/>
              </a:ext>
            </a:extLst>
          </p:cNvPr>
          <p:cNvSpPr txBox="1"/>
          <p:nvPr/>
        </p:nvSpPr>
        <p:spPr>
          <a:xfrm>
            <a:off x="3291019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Germany merged-regional population 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7DD3AD5-1578-69DF-BB81-779A72C48369}"/>
              </a:ext>
            </a:extLst>
          </p:cNvPr>
          <p:cNvSpPr txBox="1"/>
          <p:nvPr/>
        </p:nvSpPr>
        <p:spPr>
          <a:xfrm>
            <a:off x="6092825" y="5043638"/>
            <a:ext cx="2432575" cy="292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UK regional population 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893900C-A011-C5F9-ECF1-477435293CFA}"/>
              </a:ext>
            </a:extLst>
          </p:cNvPr>
          <p:cNvSpPr txBox="1"/>
          <p:nvPr/>
        </p:nvSpPr>
        <p:spPr>
          <a:xfrm>
            <a:off x="8674637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UK merged-regional population </a:t>
            </a:r>
          </a:p>
        </p:txBody>
      </p:sp>
    </p:spTree>
    <p:extLst>
      <p:ext uri="{BB962C8B-B14F-4D97-AF65-F5344CB8AC3E}">
        <p14:creationId xmlns:p14="http://schemas.microsoft.com/office/powerpoint/2010/main" val="123449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30FB-4804-1EF9-89F4-9C0BB77F7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78391-F907-4F2A-324E-1B7130446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region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12EDE88-5491-9F39-7BC7-6168DCB7A161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982014"/>
                <a:ext cx="6917791" cy="48939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Poisson likelihood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model counts accidents (discrete events) in each region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de-DE" sz="1800" b="1" dirty="0" err="1"/>
                  <a:t>Hierarchical</a:t>
                </a:r>
                <a:r>
                  <a:rPr lang="de-DE" sz="1800" b="1" dirty="0"/>
                  <a:t> </a:t>
                </a:r>
                <a:r>
                  <a:rPr lang="de-DE" sz="1800" b="1" dirty="0" err="1"/>
                  <a:t>model</a:t>
                </a:r>
                <a:endParaRPr lang="en-US" sz="1800" b="1" dirty="0"/>
              </a:p>
              <a:p>
                <a:r>
                  <a:rPr lang="en-US" sz="1800" dirty="0"/>
                  <a:t>Parameters: </a:t>
                </a:r>
                <a14:m>
                  <m:oMath xmlns:m="http://schemas.openxmlformats.org/officeDocument/2006/math"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de-DE" sz="1800" b="0" i="1" baseline="-25000" smtClean="0">
                        <a:latin typeface="Cambria Math" panose="02040503050406030204" pitchFamily="18" charset="0"/>
                      </a:rPr>
                      <m:t>𝑐𝑟</m:t>
                    </m:r>
                  </m:oMath>
                </a14:m>
                <a:r>
                  <a:rPr lang="en-US" sz="1800" baseline="-25000" dirty="0"/>
                  <a:t> </a:t>
                </a:r>
                <a:r>
                  <a:rPr lang="en-US" sz="1600" baseline="-25000" dirty="0"/>
                  <a:t> </a:t>
                </a:r>
                <a:r>
                  <a:rPr lang="en-US" sz="1600" dirty="0"/>
                  <a:t>log-accident rate baseline for country</a:t>
                </a:r>
              </a:p>
              <a:p>
                <a:pPr marL="1439862" lvl="4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i="1" baseline="-25000">
                        <a:latin typeface="Cambria Math" panose="02040503050406030204" pitchFamily="18" charset="0"/>
                      </a:rPr>
                      <m:t>𝑐𝑟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sz="1600" baseline="-25000" dirty="0"/>
                  <a:t> </a:t>
                </a:r>
                <a:r>
                  <a:rPr lang="en-US" sz="1600" dirty="0"/>
                  <a:t>variation between regions within country c</a:t>
                </a:r>
              </a:p>
              <a:p>
                <a:pPr marL="1439862" lvl="4" indent="0">
                  <a:buNone/>
                </a:pPr>
                <a:r>
                  <a:rPr lang="de-DE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ar-AE" sz="1600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600" baseline="-25000" dirty="0"/>
                  <a:t>  </a:t>
                </a:r>
                <a:r>
                  <a:rPr lang="en-US" sz="1600" dirty="0"/>
                  <a:t>non-centered random effect for each region</a:t>
                </a:r>
                <a:endParaRPr lang="en-US" sz="1400" dirty="0"/>
              </a:p>
              <a:p>
                <a:pPr>
                  <a:lnSpc>
                    <a:spcPct val="150000"/>
                  </a:lnSpc>
                </a:pPr>
                <a:endParaRPr lang="en-US" sz="14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de-DE" sz="1800" b="1" dirty="0"/>
                  <a:t>Poisson </a:t>
                </a:r>
                <a:r>
                  <a:rPr lang="de-DE" sz="1800" b="1" dirty="0" err="1"/>
                  <a:t>likelihood</a:t>
                </a:r>
                <a:endParaRPr lang="de-DE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∼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𝑃𝑜𝑖𝑠𝑠𝑜𝑛</m:t>
                    </m:r>
                    <m:d>
                      <m:dPr>
                        <m:ctrlPr>
                          <a:rPr lang="de-DE" sz="18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f>
                          <m:f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sup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𝑤𝑖𝑡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8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de-DE" sz="1800" i="1" baseline="-25000">
                        <a:latin typeface="Cambria Math" panose="02040503050406030204" pitchFamily="18" charset="0"/>
                      </a:rPr>
                      <m:t>𝑐𝑟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18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sz="1800" i="1" baseline="-25000">
                        <a:latin typeface="Cambria Math" panose="02040503050406030204" pitchFamily="18" charset="0"/>
                      </a:rPr>
                      <m:t>𝑐𝑟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800" b="0" i="1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800" b="0" i="1" smtClean="0">
                        <a:latin typeface="Cambria Math" panose="02040503050406030204" pitchFamily="18" charset="0"/>
                      </a:rPr>
                      <m:t>population</m:t>
                    </m:r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8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8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600" dirty="0"/>
                  <a:t>Regions with sparse data are shrunk toward the country mean.</a:t>
                </a:r>
              </a:p>
              <a:p>
                <a:pPr lvl="1"/>
                <a:r>
                  <a:rPr lang="en-US" sz="1600" dirty="0"/>
                  <a:t>Regions with many accidents can deviate more.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12EDE88-5491-9F39-7BC7-6168DCB7A1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982014"/>
                <a:ext cx="6917791" cy="4893968"/>
              </a:xfrm>
              <a:prstGeom prst="rect">
                <a:avLst/>
              </a:prstGeom>
              <a:blipFill>
                <a:blip r:embed="rId2"/>
                <a:stretch>
                  <a:fillRect l="-70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2336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F86B1-12A2-19F3-3F4F-3EAA5F705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EBDD1-00A9-AA06-D8B8-4F6BE89F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region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0E10B86F-C6FC-C69D-A431-3F116CB84A62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873985"/>
                <a:ext cx="7754046" cy="21646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MCMC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draws samples from the </a:t>
                </a:r>
                <a:r>
                  <a:rPr lang="en-US" sz="1800" b="1" dirty="0"/>
                  <a:t>posterior distribution</a:t>
                </a:r>
                <a:r>
                  <a:rPr lang="en-US" sz="1800" dirty="0"/>
                  <a:t> of all model parameters.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b="1" dirty="0"/>
                  <a:t>Posterior</a:t>
                </a:r>
                <a:r>
                  <a:rPr lang="en-US" sz="1800" dirty="0"/>
                  <a:t> = “plausible values for rates given data and priors.”</a:t>
                </a:r>
              </a:p>
              <a:p>
                <a:pPr>
                  <a:lnSpc>
                    <a:spcPct val="150000"/>
                  </a:lnSpc>
                </a:pPr>
                <a:r>
                  <a:rPr lang="de-DE" sz="1800" dirty="0"/>
                  <a:t>Samples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posterior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r>
                      <a:rPr lang="de-DE" i="1"/>
                      <m:t>𝑝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𝜇</m:t>
                            </m:r>
                          </m:e>
                          <m:sub>
                            <m:r>
                              <a:rPr lang="ar-AE" i="1"/>
                              <m:t>𝑐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𝜎</m:t>
                            </m:r>
                          </m:e>
                          <m:sub>
                            <m:r>
                              <a:rPr lang="ar-AE" i="1"/>
                              <m:t>𝑐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𝜂</m:t>
                            </m:r>
                          </m:e>
                          <m:sub>
                            <m:r>
                              <a:rPr lang="ar-AE" i="1"/>
                              <m:t>𝑟</m:t>
                            </m:r>
                          </m:sub>
                        </m:sSub>
                      </m:e>
                      <m:e>
                        <m:r>
                          <a:rPr lang="ar-AE"/>
                          <m:t>∣</m:t>
                        </m:r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𝑦</m:t>
                            </m:r>
                          </m:e>
                          <m:sub>
                            <m:r>
                              <a:rPr lang="ar-AE" i="1"/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𝑁</m:t>
                            </m:r>
                          </m:e>
                          <m:sub>
                            <m:r>
                              <a:rPr lang="ar-AE" i="1"/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0E10B86F-C6FC-C69D-A431-3F116CB84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873985"/>
                <a:ext cx="7754046" cy="2164695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B1A4BD67-D4D1-AFC6-1DE4-DC2D03493C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190" y="2675824"/>
            <a:ext cx="7609619" cy="363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898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9FEF-B05C-899C-69AF-63F260CA0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A39F0-4888-B26F-CDE7-8E899DB66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country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0F7C6BD-3CD2-AC62-567B-2BE18A6673E0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891490"/>
                <a:ext cx="7516673" cy="212968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Density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For each posterior draw </a:t>
                </a:r>
                <a14:m>
                  <m:oMath xmlns:m="http://schemas.openxmlformats.org/officeDocument/2006/math">
                    <m:r>
                      <a:rPr lang="en-US" sz="1800" i="1"/>
                      <m:t>𝑠</m:t>
                    </m:r>
                    <m:r>
                      <a:rPr lang="en-US" sz="1800"/>
                      <m:t>=</m:t>
                    </m:r>
                    <m:r>
                      <a:rPr lang="en-US" sz="1800"/>
                      <m:t>1</m:t>
                    </m:r>
                    <m:r>
                      <a:rPr lang="en-US" sz="1800"/>
                      <m:t>…</m:t>
                    </m:r>
                    <m:r>
                      <a:rPr lang="en-US" sz="1800" i="1"/>
                      <m:t>𝑆</m:t>
                    </m:r>
                  </m:oMath>
                </a14:m>
                <a:r>
                  <a:rPr lang="en-US" sz="1600" dirty="0"/>
                  <a:t>:</a:t>
                </a:r>
              </a:p>
              <a:p>
                <a:r>
                  <a:rPr lang="de-DE" sz="1600" dirty="0" err="1"/>
                  <a:t>Compute</a:t>
                </a:r>
                <a:r>
                  <a:rPr lang="de-DE" sz="1600" dirty="0"/>
                  <a:t> regional </a:t>
                </a:r>
                <a:r>
                  <a:rPr lang="de-DE" sz="1600" dirty="0" err="1"/>
                  <a:t>accident</a:t>
                </a:r>
                <a:r>
                  <a:rPr lang="de-DE" sz="1600" dirty="0"/>
                  <a:t> rate per 100.000: </a:t>
                </a:r>
                <a14:m>
                  <m:oMath xmlns:m="http://schemas.openxmlformats.org/officeDocument/2006/math"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)​=</m:t>
                    </m:r>
                    <m:r>
                      <m:rPr>
                        <m:sty m:val="p"/>
                      </m:rPr>
                      <a:rPr lang="pt-BR" sz="1600" i="1" dirty="0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d>
                      <m:dPr>
                        <m:ctrlPr>
                          <a:rPr lang="pt-BR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​+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d>
                      <m:dPr>
                        <m:ctrlPr>
                          <a:rPr lang="pt-BR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)​)</m:t>
                    </m:r>
                  </m:oMath>
                </a14:m>
                <a:endParaRPr lang="de-DE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Weight each region by its population: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l-GR" sz="16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l-GR" sz="1600" dirty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sup>
                    </m:sSubSup>
                    <m:r>
                      <a:rPr lang="de-DE" sz="16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de-DE" sz="160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de-DE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p>
                            </m:sSubSup>
                            <m: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de-DE" sz="16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de-DE" sz="16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de-DE" sz="1600" i="1" dirty="0">
                        <a:latin typeface="Cambria Math" panose="02040503050406030204" pitchFamily="18" charset="0"/>
                      </a:rPr>
                      <m:t>​​</m:t>
                    </m:r>
                  </m:oMath>
                </a14:m>
                <a:r>
                  <a:rPr lang="de-DE" sz="1600" dirty="0"/>
                  <a:t> use Kernel </a:t>
                </a:r>
                <a:r>
                  <a:rPr lang="de-DE" sz="1600" dirty="0" err="1"/>
                  <a:t>density</a:t>
                </a:r>
                <a:r>
                  <a:rPr lang="de-DE" sz="1600" dirty="0"/>
                  <a:t> </a:t>
                </a:r>
                <a:r>
                  <a:rPr lang="de-DE" sz="1600" dirty="0" err="1"/>
                  <a:t>estimate</a:t>
                </a:r>
                <a:r>
                  <a:rPr lang="de-DE" sz="1600" dirty="0"/>
                  <a:t> (KDE) </a:t>
                </a:r>
                <a:r>
                  <a:rPr lang="de-DE" sz="1600" dirty="0" err="1"/>
                  <a:t>for</a:t>
                </a:r>
                <a:r>
                  <a:rPr lang="de-DE" sz="1600" dirty="0"/>
                  <a:t> </a:t>
                </a:r>
                <a:r>
                  <a:rPr lang="de-DE" sz="1600" dirty="0" err="1"/>
                  <a:t>plotting</a:t>
                </a:r>
                <a:r>
                  <a:rPr lang="de-DE" sz="1600" dirty="0"/>
                  <a:t> </a:t>
                </a:r>
                <a:r>
                  <a:rPr lang="de-DE" sz="1600" dirty="0" err="1"/>
                  <a:t>density</a:t>
                </a:r>
                <a:endParaRPr lang="en-US" sz="1600" dirty="0"/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0F7C6BD-3CD2-AC62-567B-2BE18A6673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891490"/>
                <a:ext cx="7516673" cy="2129686"/>
              </a:xfrm>
              <a:prstGeom prst="rect">
                <a:avLst/>
              </a:prstGeom>
              <a:blipFill>
                <a:blip r:embed="rId2"/>
                <a:stretch>
                  <a:fillRect l="-649" b="-31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DA761C0A-182C-FC27-1B5E-07C471FAB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4082" y="3139959"/>
            <a:ext cx="6657486" cy="318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2527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gen_en">
  <a:themeElements>
    <a:clrScheme name="UT_pptmaster_gen_en 1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ADB3B7"/>
      </a:accent1>
      <a:accent2>
        <a:srgbClr val="B4A069"/>
      </a:accent2>
      <a:accent3>
        <a:srgbClr val="FFFFFF"/>
      </a:accent3>
      <a:accent4>
        <a:srgbClr val="2A2A2A"/>
      </a:accent4>
      <a:accent5>
        <a:srgbClr val="D3D6D8"/>
      </a:accent5>
      <a:accent6>
        <a:srgbClr val="A3915E"/>
      </a:accent6>
      <a:hlink>
        <a:srgbClr val="32414B"/>
      </a:hlink>
      <a:folHlink>
        <a:srgbClr val="A51E37"/>
      </a:folHlink>
    </a:clrScheme>
    <a:fontScheme name="UT_pptmaster_gen_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UT_pptmaster_gen_en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UT_pptmaster_science_en_cg_widescreen_16_9_v5.potx" id="{06B1E6C0-2744-4998-9F70-8997C402EA9A}" vid="{E7671902-D244-468F-8F85-A0F050A8ED07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277</Words>
  <Application>Microsoft Office PowerPoint</Application>
  <PresentationFormat>Breitbild</PresentationFormat>
  <Paragraphs>43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Arial</vt:lpstr>
      <vt:lpstr>Cambria Math</vt:lpstr>
      <vt:lpstr>Times New Roman</vt:lpstr>
      <vt:lpstr>Wingdings</vt:lpstr>
      <vt:lpstr>UT_pptmaster_gen_en</vt:lpstr>
      <vt:lpstr>Data Literacy – Project Status  Is street traffic in the UK more  dangerous than in Germany?</vt:lpstr>
      <vt:lpstr>Datasets</vt:lpstr>
      <vt:lpstr>Normalization</vt:lpstr>
      <vt:lpstr>Expected accident rates per region</vt:lpstr>
      <vt:lpstr>Expected accident rates per region</vt:lpstr>
      <vt:lpstr>Expected accident rates per country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antialiasing</dc:title>
  <dc:creator>Julia</dc:creator>
  <cp:lastModifiedBy>Philipp Bauer</cp:lastModifiedBy>
  <cp:revision>232</cp:revision>
  <cp:lastPrinted>2017-02-09T07:55:59Z</cp:lastPrinted>
  <dcterms:modified xsi:type="dcterms:W3CDTF">2025-11-28T16:47:30Z</dcterms:modified>
</cp:coreProperties>
</file>