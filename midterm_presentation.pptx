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1" r:id="rId1"/>
  </p:sldMasterIdLst>
  <p:notesMasterIdLst>
    <p:notesMasterId r:id="rId9"/>
  </p:notesMasterIdLst>
  <p:sldIdLst>
    <p:sldId id="731" r:id="rId2"/>
    <p:sldId id="746" r:id="rId3"/>
    <p:sldId id="744" r:id="rId4"/>
    <p:sldId id="745" r:id="rId5"/>
    <p:sldId id="747" r:id="rId6"/>
    <p:sldId id="748" r:id="rId7"/>
    <p:sldId id="743" r:id="rId8"/>
  </p:sldIdLst>
  <p:sldSz cx="12192000" cy="6858000"/>
  <p:notesSz cx="7099300" cy="10234613"/>
  <p:defaultTextStyle>
    <a:defPPr>
      <a:defRPr lang="en-GB"/>
    </a:defPPr>
    <a:lvl1pPr algn="l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83">
          <p15:clr>
            <a:srgbClr val="A4A3A4"/>
          </p15:clr>
        </p15:guide>
        <p15:guide id="2" pos="226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drik" initials="H" lastIdx="2" clrIdx="0">
    <p:extLst>
      <p:ext uri="{19B8F6BF-5375-455C-9EA6-DF929625EA0E}">
        <p15:presenceInfo xmlns:p15="http://schemas.microsoft.com/office/powerpoint/2012/main" userId="Hendr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7030A0"/>
    <a:srgbClr val="00B0F0"/>
    <a:srgbClr val="000000"/>
    <a:srgbClr val="1A5136"/>
    <a:srgbClr val="003399"/>
    <a:srgbClr val="FFFF00"/>
    <a:srgbClr val="00CC99"/>
    <a:srgbClr val="FF66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3447" autoAdjust="0"/>
  </p:normalViewPr>
  <p:slideViewPr>
    <p:cSldViewPr snapToGrid="0">
      <p:cViewPr>
        <p:scale>
          <a:sx n="66" d="100"/>
          <a:sy n="66" d="100"/>
        </p:scale>
        <p:origin x="644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83"/>
        <p:guide pos="226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7100888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90863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4734" tIns="47554" rIns="94734" bIns="47554" numCol="1" anchor="t" anchorCtr="0" compatLnSpc="1">
            <a:prstTxWarp prst="textNoShape">
              <a:avLst/>
            </a:prstTxWarp>
          </a:bodyPr>
          <a:lstStyle>
            <a:lvl1pPr defTabSz="466725">
              <a:tabLst>
                <a:tab pos="0" algn="l"/>
                <a:tab pos="950913" algn="l"/>
                <a:tab pos="1900238" algn="l"/>
                <a:tab pos="2852738" algn="l"/>
                <a:tab pos="3805238" algn="l"/>
                <a:tab pos="4756150" algn="l"/>
                <a:tab pos="5707063" algn="l"/>
                <a:tab pos="6656388" algn="l"/>
                <a:tab pos="7608888" algn="l"/>
                <a:tab pos="8559800" algn="l"/>
                <a:tab pos="9512300" algn="l"/>
                <a:tab pos="10461625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986213" y="0"/>
            <a:ext cx="3090862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4734" tIns="47554" rIns="94734" bIns="47554" numCol="1" anchor="t" anchorCtr="0" compatLnSpc="1">
            <a:prstTxWarp prst="textNoShape">
              <a:avLst/>
            </a:prstTxWarp>
          </a:bodyPr>
          <a:lstStyle>
            <a:lvl1pPr algn="r" defTabSz="466725">
              <a:tabLst>
                <a:tab pos="0" algn="l"/>
                <a:tab pos="950913" algn="l"/>
                <a:tab pos="1900238" algn="l"/>
                <a:tab pos="2852738" algn="l"/>
                <a:tab pos="3805238" algn="l"/>
                <a:tab pos="4756150" algn="l"/>
                <a:tab pos="5707063" algn="l"/>
                <a:tab pos="6656388" algn="l"/>
                <a:tab pos="7608888" algn="l"/>
                <a:tab pos="8559800" algn="l"/>
                <a:tab pos="9512300" algn="l"/>
                <a:tab pos="10461625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9157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82563" y="796925"/>
            <a:ext cx="6799262" cy="3825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859338"/>
            <a:ext cx="5207000" cy="4624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25025"/>
            <a:ext cx="3090863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4734" tIns="47554" rIns="94734" bIns="47554" numCol="1" anchor="b" anchorCtr="0" compatLnSpc="1">
            <a:prstTxWarp prst="textNoShape">
              <a:avLst/>
            </a:prstTxWarp>
          </a:bodyPr>
          <a:lstStyle>
            <a:lvl1pPr defTabSz="466725">
              <a:tabLst>
                <a:tab pos="0" algn="l"/>
                <a:tab pos="950913" algn="l"/>
                <a:tab pos="1900238" algn="l"/>
                <a:tab pos="2852738" algn="l"/>
                <a:tab pos="3805238" algn="l"/>
                <a:tab pos="4756150" algn="l"/>
                <a:tab pos="5707063" algn="l"/>
                <a:tab pos="6656388" algn="l"/>
                <a:tab pos="7608888" algn="l"/>
                <a:tab pos="8559800" algn="l"/>
                <a:tab pos="9512300" algn="l"/>
                <a:tab pos="10461625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986213" y="9725025"/>
            <a:ext cx="3090862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4734" tIns="47554" rIns="94734" bIns="47554" numCol="1" anchor="b" anchorCtr="0" compatLnSpc="1">
            <a:prstTxWarp prst="textNoShape">
              <a:avLst/>
            </a:prstTxWarp>
          </a:bodyPr>
          <a:lstStyle>
            <a:lvl1pPr algn="r" defTabSz="466725">
              <a:tabLst>
                <a:tab pos="0" algn="l"/>
                <a:tab pos="950913" algn="l"/>
                <a:tab pos="1900238" algn="l"/>
                <a:tab pos="2852738" algn="l"/>
                <a:tab pos="3805238" algn="l"/>
                <a:tab pos="4756150" algn="l"/>
                <a:tab pos="5707063" algn="l"/>
                <a:tab pos="6656388" algn="l"/>
                <a:tab pos="7608888" algn="l"/>
                <a:tab pos="8559800" algn="l"/>
                <a:tab pos="9512300" algn="l"/>
                <a:tab pos="10461625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847F187-CE78-439E-AE54-2FD9DED80E4F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2948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870CFB1-A7FA-43C4-BFEC-2FB879E2036E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01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975" y="796925"/>
            <a:ext cx="6802438" cy="382746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GB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859338"/>
            <a:ext cx="5208588" cy="4627562"/>
          </a:xfrm>
          <a:noFill/>
          <a:ln/>
        </p:spPr>
        <p:txBody>
          <a:bodyPr wrap="none" lIns="95110" tIns="47554" rIns="95110" bIns="47554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67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8" name="Picture 12" descr="xEKUT_WortBildMarke_W_RG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1" y="358775"/>
            <a:ext cx="2822448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958851" y="1258888"/>
            <a:ext cx="102743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411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07836" y="4321717"/>
            <a:ext cx="10267949" cy="406265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de-DE" altLang="en-US" noProof="0"/>
          </a:p>
        </p:txBody>
      </p:sp>
      <p:pic>
        <p:nvPicPr>
          <p:cNvPr id="4147" name="Picture 51" descr="UT_WBMW_7scienc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299" y="446357"/>
            <a:ext cx="3712178" cy="55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65202" y="2793346"/>
            <a:ext cx="10267949" cy="677108"/>
          </a:xfrm>
        </p:spPr>
        <p:txBody>
          <a:bodyPr/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3918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851" y="286129"/>
            <a:ext cx="10267949" cy="400110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5964" y="6519863"/>
            <a:ext cx="3292843" cy="264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Data Literacy - Winter 25/26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939670" y="6519862"/>
            <a:ext cx="372218" cy="264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602BA725-6141-4922-B453-29D83426F033}" type="slidenum">
              <a:rPr lang="de-DE" sz="1200" smtClean="0"/>
              <a:pPr algn="r"/>
              <a:t>‹Nr.›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47847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639146"/>
            <a:ext cx="10515600" cy="923330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702587" y="6519863"/>
            <a:ext cx="530446" cy="184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09D0305-AB8D-4D9F-955E-175B8BE15BA1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9991" y="6519864"/>
            <a:ext cx="9774465" cy="184665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Hands-on AI based 3D Vision - Summer 25</a:t>
            </a:r>
          </a:p>
        </p:txBody>
      </p:sp>
    </p:spTree>
    <p:extLst>
      <p:ext uri="{BB962C8B-B14F-4D97-AF65-F5344CB8AC3E}">
        <p14:creationId xmlns:p14="http://schemas.microsoft.com/office/powerpoint/2010/main" val="132982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079947"/>
            <a:ext cx="5035549" cy="52337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079946"/>
            <a:ext cx="5035551" cy="52337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0702587" y="6519863"/>
            <a:ext cx="530446" cy="184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09D0305-AB8D-4D9F-955E-175B8BE15BA1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49991" y="6519864"/>
            <a:ext cx="9774465" cy="184665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Hands-on AI based 3D Vision - Summer 25</a:t>
            </a:r>
          </a:p>
        </p:txBody>
      </p:sp>
    </p:spTree>
    <p:extLst>
      <p:ext uri="{BB962C8B-B14F-4D97-AF65-F5344CB8AC3E}">
        <p14:creationId xmlns:p14="http://schemas.microsoft.com/office/powerpoint/2010/main" val="285834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17466"/>
            <a:ext cx="10515600" cy="369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898245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1852706"/>
            <a:ext cx="5158316" cy="44827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98245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52706"/>
            <a:ext cx="5183717" cy="44827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0702587" y="6519863"/>
            <a:ext cx="530446" cy="184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09D0305-AB8D-4D9F-955E-175B8BE15BA1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49991" y="6519864"/>
            <a:ext cx="9774465" cy="184665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Hands-on AI based 3D Vision - Summer 25</a:t>
            </a:r>
          </a:p>
        </p:txBody>
      </p:sp>
    </p:spTree>
    <p:extLst>
      <p:ext uri="{BB962C8B-B14F-4D97-AF65-F5344CB8AC3E}">
        <p14:creationId xmlns:p14="http://schemas.microsoft.com/office/powerpoint/2010/main" val="38488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702587" y="6519863"/>
            <a:ext cx="530446" cy="184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09D0305-AB8D-4D9F-955E-175B8BE15BA1}" type="slidenum">
              <a:rPr lang="en-US" smtClean="0"/>
              <a:t>‹Nr.›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9991" y="6519864"/>
            <a:ext cx="9774465" cy="184665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Hands-on AI based 3D Vision - Summer 25</a:t>
            </a:r>
          </a:p>
        </p:txBody>
      </p:sp>
    </p:spTree>
    <p:extLst>
      <p:ext uri="{BB962C8B-B14F-4D97-AF65-F5344CB8AC3E}">
        <p14:creationId xmlns:p14="http://schemas.microsoft.com/office/powerpoint/2010/main" val="149993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>
          <a:xfrm>
            <a:off x="609600" y="388878"/>
            <a:ext cx="10972800" cy="40011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4800" cy="25527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384800" cy="25527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609600" y="3924300"/>
            <a:ext cx="5384800" cy="25527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7600" y="3924300"/>
            <a:ext cx="5384800" cy="25527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636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958851" y="809625"/>
            <a:ext cx="102743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58852" y="286137"/>
            <a:ext cx="9159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en-US"/>
              <a:t>Titelmasterformat durch Klicken bearbeiten</a:t>
            </a:r>
          </a:p>
        </p:txBody>
      </p:sp>
      <p:sp>
        <p:nvSpPr>
          <p:cNvPr id="3089" name="Line 17"/>
          <p:cNvSpPr>
            <a:spLocks noChangeShapeType="1"/>
          </p:cNvSpPr>
          <p:nvPr/>
        </p:nvSpPr>
        <p:spPr bwMode="auto">
          <a:xfrm>
            <a:off x="958851" y="6426711"/>
            <a:ext cx="102743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095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014412"/>
            <a:ext cx="10274300" cy="531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Textmasterformate durch Klicken bearbeiten</a:t>
            </a:r>
          </a:p>
          <a:p>
            <a:pPr lvl="1"/>
            <a:r>
              <a:rPr lang="de-DE" altLang="en-US" dirty="0"/>
              <a:t>Zweite Ebene</a:t>
            </a:r>
          </a:p>
          <a:p>
            <a:pPr lvl="2"/>
            <a:r>
              <a:rPr lang="de-DE" altLang="en-US" dirty="0"/>
              <a:t>Dritte Ebene</a:t>
            </a:r>
          </a:p>
          <a:p>
            <a:pPr lvl="3"/>
            <a:r>
              <a:rPr lang="de-DE" altLang="en-US" dirty="0"/>
              <a:t>Vierte Ebene</a:t>
            </a:r>
          </a:p>
          <a:p>
            <a:pPr lvl="4"/>
            <a:r>
              <a:rPr lang="de-DE" altLang="en-US" dirty="0"/>
              <a:t>Fünfte Ebene</a:t>
            </a:r>
          </a:p>
        </p:txBody>
      </p:sp>
      <p:pic>
        <p:nvPicPr>
          <p:cNvPr id="13" name="Picture 12" descr="xEKUT_WortBildMarke_W_RGB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154" y="146191"/>
            <a:ext cx="1969879" cy="51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Line 17"/>
          <p:cNvSpPr>
            <a:spLocks noChangeShapeType="1"/>
          </p:cNvSpPr>
          <p:nvPr userDrawn="1"/>
        </p:nvSpPr>
        <p:spPr bwMode="auto">
          <a:xfrm>
            <a:off x="958851" y="6426711"/>
            <a:ext cx="102743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2587" y="6519863"/>
            <a:ext cx="53044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tabLst>
                <a:tab pos="7702550" algn="r"/>
              </a:tabLst>
              <a:defRPr sz="1200"/>
            </a:lvl1pPr>
          </a:lstStyle>
          <a:p>
            <a:fld id="{109D0305-AB8D-4D9F-955E-175B8BE15BA1}" type="slidenum">
              <a:rPr lang="en-US" smtClean="0"/>
              <a:t>‹Nr.›</a:t>
            </a:fld>
            <a:endParaRPr lang="en-US"/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849991" y="6519864"/>
            <a:ext cx="9774465" cy="184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sz="1200" dirty="0"/>
              <a:t>Hands-on AI based 3D Vision - Summer 25</a:t>
            </a:r>
          </a:p>
        </p:txBody>
      </p:sp>
    </p:spTree>
    <p:extLst>
      <p:ext uri="{BB962C8B-B14F-4D97-AF65-F5344CB8AC3E}">
        <p14:creationId xmlns:p14="http://schemas.microsoft.com/office/powerpoint/2010/main" val="187812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180975" indent="-18097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18097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SzPct val="8000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5350" indent="-17462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185738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2425" indent="-18256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data.muenchen.de/fa_IR/dataset/bevoelkerung-stadtbezirken" TargetMode="External"/><Relationship Id="rId13" Type="http://schemas.openxmlformats.org/officeDocument/2006/relationships/hyperlink" Target="https://www.ons.gov.uk/methodology/geography/geographicalproducts/digitalboundaries" TargetMode="External"/><Relationship Id="rId3" Type="http://schemas.openxmlformats.org/officeDocument/2006/relationships/hyperlink" Target="https://daten.gdz.bkg.bund.de/produkte/vg/vg250-ew_ebenen_1231/aktuell/" TargetMode="External"/><Relationship Id="rId7" Type="http://schemas.openxmlformats.org/officeDocument/2006/relationships/hyperlink" Target="https://www.destatis.de/DE/Themen/Laender-Regionen/Regionales/Gemeindeverzeichnis/Administrativ/04-kreise.html" TargetMode="External"/><Relationship Id="rId12" Type="http://schemas.openxmlformats.org/officeDocument/2006/relationships/hyperlink" Target="https://www.gov.uk/government/statistical-data-sets/reported-road-accidents-vehicles-and-casualties-tables-for-great-britain" TargetMode="External"/><Relationship Id="rId2" Type="http://schemas.openxmlformats.org/officeDocument/2006/relationships/hyperlink" Target="https://unfallatlas.statistikportal.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en.berlin.de/datensaetze/rbs-bezirke-dezember-2014" TargetMode="External"/><Relationship Id="rId11" Type="http://schemas.openxmlformats.org/officeDocument/2006/relationships/hyperlink" Target="https://www.bast.de/DE/Publikationen/Statistik/Verkehrsdaten/Manuelle-Zaehlung.html?nn=419442" TargetMode="External"/><Relationship Id="rId5" Type="http://schemas.openxmlformats.org/officeDocument/2006/relationships/hyperlink" Target="https://hub.arcgis.com/maps/esri-de-content::stadtteile-hamburg" TargetMode="External"/><Relationship Id="rId10" Type="http://schemas.openxmlformats.org/officeDocument/2006/relationships/hyperlink" Target="https://www.statistik-berlin-brandenburg.de/a-i-5-hj" TargetMode="External"/><Relationship Id="rId4" Type="http://schemas.openxmlformats.org/officeDocument/2006/relationships/hyperlink" Target="https://hub.arcgis.com/datasets/esri-de-content::stadtbezirke-m%C3%BCnchen/about?uiVersion=content-views" TargetMode="External"/><Relationship Id="rId9" Type="http://schemas.openxmlformats.org/officeDocument/2006/relationships/hyperlink" Target="https://www.statistik-nord.de/zahlen-fakten/hamburger-melderegister/bevoelkerungsstand" TargetMode="External"/><Relationship Id="rId14" Type="http://schemas.openxmlformats.org/officeDocument/2006/relationships/hyperlink" Target="https://cy.ons.gov.uk/file?uri=/peoplepopulationandcommunity/populationandmigration/populationestimates/datasets/populationestimatesforukenglandandwalesscotlandandnorthernireland/mid2024/mye24tablesuk.xls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43561" y="4815740"/>
            <a:ext cx="11104879" cy="374718"/>
          </a:xfrm>
        </p:spPr>
        <p:txBody>
          <a:bodyPr/>
          <a:lstStyle/>
          <a:p>
            <a:pPr algn="ctr"/>
            <a:endParaRPr lang="de-DE" dirty="0">
              <a:cs typeface="Arial"/>
            </a:endParaRPr>
          </a:p>
        </p:txBody>
      </p:sp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592015" y="1763448"/>
            <a:ext cx="11007969" cy="1938992"/>
          </a:xfrm>
        </p:spPr>
        <p:txBody>
          <a:bodyPr/>
          <a:lstStyle/>
          <a:p>
            <a:r>
              <a:rPr lang="en-US" sz="2400" dirty="0"/>
              <a:t>Data Literacy – Project Status</a:t>
            </a:r>
            <a:br>
              <a:rPr lang="en-US" sz="2400" dirty="0"/>
            </a:br>
            <a:br>
              <a:rPr lang="en-US" sz="3000" dirty="0"/>
            </a:br>
            <a:r>
              <a:rPr lang="en-US" sz="3600" dirty="0"/>
              <a:t>Is street traffic in the UK more </a:t>
            </a:r>
            <a:br>
              <a:rPr lang="en-US" sz="3600" dirty="0"/>
            </a:br>
            <a:r>
              <a:rPr lang="en-US" sz="3600" dirty="0"/>
              <a:t>dangerous than in Germany?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5110595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0DEC-75B3-509B-5A66-FBB449D0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CAB69-E55D-F9E8-5732-E7C98A02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17F1A3-5054-1120-1E12-1D710521BD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8851" y="1039499"/>
            <a:ext cx="6434838" cy="477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Germany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Accidents: </a:t>
            </a:r>
            <a:r>
              <a:rPr lang="de-DE" sz="1600" dirty="0">
                <a:hlinkClick r:id="rId2"/>
              </a:rPr>
              <a:t>Unfallatlas Deutschland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Regions: </a:t>
            </a:r>
            <a:r>
              <a:rPr lang="en-US" sz="1600" dirty="0">
                <a:hlinkClick r:id="rId3"/>
              </a:rPr>
              <a:t>Germany</a:t>
            </a:r>
            <a:r>
              <a:rPr lang="en-US" sz="1600" dirty="0"/>
              <a:t>, </a:t>
            </a:r>
            <a:r>
              <a:rPr lang="en-US" sz="1600" dirty="0">
                <a:hlinkClick r:id="rId4"/>
              </a:rPr>
              <a:t>Munich</a:t>
            </a:r>
            <a:r>
              <a:rPr lang="en-US" sz="1600" dirty="0"/>
              <a:t>, </a:t>
            </a:r>
            <a:r>
              <a:rPr lang="en-US" sz="1600" dirty="0">
                <a:hlinkClick r:id="rId5"/>
              </a:rPr>
              <a:t>Hamburg</a:t>
            </a:r>
            <a:r>
              <a:rPr lang="en-US" sz="1600" dirty="0"/>
              <a:t>, </a:t>
            </a:r>
            <a:r>
              <a:rPr lang="en-US" sz="1600" dirty="0">
                <a:hlinkClick r:id="rId6"/>
              </a:rPr>
              <a:t>Berlin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Population: </a:t>
            </a:r>
            <a:r>
              <a:rPr lang="en-US" sz="1600" dirty="0">
                <a:hlinkClick r:id="rId7"/>
              </a:rPr>
              <a:t>Germany</a:t>
            </a:r>
            <a:r>
              <a:rPr lang="en-US" sz="1600" dirty="0"/>
              <a:t>, </a:t>
            </a:r>
            <a:r>
              <a:rPr lang="en-US" sz="1600" dirty="0">
                <a:hlinkClick r:id="rId8"/>
              </a:rPr>
              <a:t>Munich</a:t>
            </a:r>
            <a:r>
              <a:rPr lang="en-US" sz="1600" dirty="0"/>
              <a:t>, </a:t>
            </a:r>
            <a:r>
              <a:rPr lang="en-US" sz="1600" dirty="0">
                <a:hlinkClick r:id="rId9"/>
              </a:rPr>
              <a:t>Hamburg</a:t>
            </a:r>
            <a:r>
              <a:rPr lang="en-US" sz="1600" dirty="0"/>
              <a:t>, </a:t>
            </a:r>
            <a:r>
              <a:rPr lang="en-US" sz="1600" dirty="0">
                <a:hlinkClick r:id="rId10"/>
              </a:rPr>
              <a:t>Berlin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Traffic volume: </a:t>
            </a:r>
            <a:r>
              <a:rPr lang="en-US" sz="1600" dirty="0">
                <a:hlinkClick r:id="rId11"/>
              </a:rPr>
              <a:t>Bundesanstalt für </a:t>
            </a:r>
            <a:r>
              <a:rPr lang="en-US" sz="1600" dirty="0" err="1">
                <a:hlinkClick r:id="rId11"/>
              </a:rPr>
              <a:t>Straßen</a:t>
            </a:r>
            <a:r>
              <a:rPr lang="en-US" sz="1600" dirty="0">
                <a:hlinkClick r:id="rId11"/>
              </a:rPr>
              <a:t>- und </a:t>
            </a:r>
            <a:r>
              <a:rPr lang="en-US" sz="1600" dirty="0" err="1">
                <a:hlinkClick r:id="rId11"/>
              </a:rPr>
              <a:t>Verhekrswesen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UK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Accidents: </a:t>
            </a:r>
            <a:r>
              <a:rPr lang="en-US" sz="1600" dirty="0">
                <a:hlinkClick r:id="rId12"/>
              </a:rPr>
              <a:t>GOV UK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Regions: </a:t>
            </a:r>
            <a:r>
              <a:rPr lang="en-US" sz="1600" dirty="0">
                <a:hlinkClick r:id="rId13"/>
              </a:rPr>
              <a:t>Office for National Statistics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Population: </a:t>
            </a:r>
            <a:r>
              <a:rPr lang="en-US" sz="1600" dirty="0">
                <a:hlinkClick r:id="rId14"/>
              </a:rPr>
              <a:t>Office for National Statistics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Traffic volume: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558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4CD7-16AD-6DAD-270E-733CC307F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50339-BF66-3524-2351-88DBEAC8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Normalization</a:t>
            </a:r>
            <a:endParaRPr lang="de-DE" dirty="0"/>
          </a:p>
        </p:txBody>
      </p:sp>
      <p:pic>
        <p:nvPicPr>
          <p:cNvPr id="6" name="Inhaltsplatzhalter 5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06D9B337-725D-1BF7-DD39-5442EEC1A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72"/>
          <a:stretch>
            <a:fillRect/>
          </a:stretch>
        </p:blipFill>
        <p:spPr>
          <a:xfrm>
            <a:off x="8618740" y="1629000"/>
            <a:ext cx="2156684" cy="3240000"/>
          </a:xfrm>
        </p:spPr>
      </p:pic>
      <p:pic>
        <p:nvPicPr>
          <p:cNvPr id="8" name="Grafik 7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3C02D176-8692-39A1-B1D8-60A6AA67AC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72"/>
          <a:stretch>
            <a:fillRect/>
          </a:stretch>
        </p:blipFill>
        <p:spPr>
          <a:xfrm>
            <a:off x="6092825" y="1629000"/>
            <a:ext cx="2156684" cy="3240000"/>
          </a:xfrm>
          <a:prstGeom prst="rect">
            <a:avLst/>
          </a:prstGeom>
        </p:spPr>
      </p:pic>
      <p:pic>
        <p:nvPicPr>
          <p:cNvPr id="10" name="Grafik 9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555DB610-60A7-3761-5A9F-B4BB4ACD20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9"/>
          <a:stretch>
            <a:fillRect/>
          </a:stretch>
        </p:blipFill>
        <p:spPr>
          <a:xfrm>
            <a:off x="3291015" y="1629000"/>
            <a:ext cx="2432579" cy="3240000"/>
          </a:xfrm>
          <a:prstGeom prst="rect">
            <a:avLst/>
          </a:prstGeom>
        </p:spPr>
      </p:pic>
      <p:pic>
        <p:nvPicPr>
          <p:cNvPr id="12" name="Grafik 11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01F9D650-3756-2FC6-2C49-0E3023ED45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9"/>
          <a:stretch>
            <a:fillRect/>
          </a:stretch>
        </p:blipFill>
        <p:spPr>
          <a:xfrm>
            <a:off x="709207" y="1629000"/>
            <a:ext cx="2432575" cy="3240000"/>
          </a:xfrm>
          <a:prstGeom prst="rect">
            <a:avLst/>
          </a:prstGeom>
        </p:spPr>
      </p:pic>
      <p:pic>
        <p:nvPicPr>
          <p:cNvPr id="13" name="Grafik 12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8C8EBE18-9612-C569-6F4A-C215310D093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24" t="12785" r="-2468" b="13970"/>
          <a:stretch>
            <a:fillRect/>
          </a:stretch>
        </p:blipFill>
        <p:spPr>
          <a:xfrm>
            <a:off x="10920508" y="1366787"/>
            <a:ext cx="754935" cy="3773104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AA2D910-1F46-253D-3938-C7E874C8333B}"/>
              </a:ext>
            </a:extLst>
          </p:cNvPr>
          <p:cNvSpPr txBox="1"/>
          <p:nvPr/>
        </p:nvSpPr>
        <p:spPr>
          <a:xfrm>
            <a:off x="709207" y="5043638"/>
            <a:ext cx="2432575" cy="49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a) Germany regional population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787B2B1-E48F-C501-87D0-4B208B01B9AA}"/>
              </a:ext>
            </a:extLst>
          </p:cNvPr>
          <p:cNvSpPr txBox="1"/>
          <p:nvPr/>
        </p:nvSpPr>
        <p:spPr>
          <a:xfrm>
            <a:off x="3291019" y="5043638"/>
            <a:ext cx="2432575" cy="49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a) Germany merged-regional population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7DD3AD5-1578-69DF-BB81-779A72C48369}"/>
              </a:ext>
            </a:extLst>
          </p:cNvPr>
          <p:cNvSpPr txBox="1"/>
          <p:nvPr/>
        </p:nvSpPr>
        <p:spPr>
          <a:xfrm>
            <a:off x="6092825" y="5043638"/>
            <a:ext cx="2432575" cy="292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a) UK regional population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893900C-A011-C5F9-ECF1-477435293CFA}"/>
              </a:ext>
            </a:extLst>
          </p:cNvPr>
          <p:cNvSpPr txBox="1"/>
          <p:nvPr/>
        </p:nvSpPr>
        <p:spPr>
          <a:xfrm>
            <a:off x="8674637" y="5043638"/>
            <a:ext cx="2432575" cy="49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a) UK merged-regional population </a:t>
            </a:r>
          </a:p>
        </p:txBody>
      </p:sp>
    </p:spTree>
    <p:extLst>
      <p:ext uri="{BB962C8B-B14F-4D97-AF65-F5344CB8AC3E}">
        <p14:creationId xmlns:p14="http://schemas.microsoft.com/office/powerpoint/2010/main" val="123449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30FB-4804-1EF9-89F4-9C0BB77F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78391-F907-4F2A-324E-1B713044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accident</a:t>
            </a:r>
            <a:r>
              <a:rPr lang="de-DE" dirty="0"/>
              <a:t> </a:t>
            </a:r>
            <a:r>
              <a:rPr lang="de-DE" dirty="0" err="1"/>
              <a:t>rates</a:t>
            </a:r>
            <a:r>
              <a:rPr lang="de-DE" dirty="0"/>
              <a:t> per </a:t>
            </a:r>
            <a:r>
              <a:rPr lang="de-DE" dirty="0" err="1"/>
              <a:t>region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12EDE88-5491-9F39-7BC7-6168DCB7A16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958851" y="982014"/>
                <a:ext cx="6917791" cy="48939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Poisson likelihood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model counts accidents (discrete events) in each region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DE" sz="1800" b="1" dirty="0" err="1"/>
                  <a:t>Hierarchical</a:t>
                </a:r>
                <a:r>
                  <a:rPr lang="de-DE" sz="1800" b="1" dirty="0"/>
                  <a:t> </a:t>
                </a:r>
                <a:r>
                  <a:rPr lang="de-DE" sz="1800" b="1" dirty="0" err="1"/>
                  <a:t>model</a:t>
                </a:r>
                <a:endParaRPr lang="en-US" sz="1800" b="1" dirty="0"/>
              </a:p>
              <a:p>
                <a:r>
                  <a:rPr lang="en-US" sz="1800" dirty="0"/>
                  <a:t>Parameters: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de-DE" sz="1800" b="0" i="1" baseline="-25000" smtClean="0">
                        <a:latin typeface="Cambria Math" panose="02040503050406030204" pitchFamily="18" charset="0"/>
                      </a:rPr>
                      <m:t>𝑐𝑟</m:t>
                    </m:r>
                  </m:oMath>
                </a14:m>
                <a:r>
                  <a:rPr lang="en-US" sz="1800" baseline="-25000" dirty="0"/>
                  <a:t> </a:t>
                </a:r>
                <a:r>
                  <a:rPr lang="en-US" sz="1600" baseline="-25000" dirty="0"/>
                  <a:t> </a:t>
                </a:r>
                <a:r>
                  <a:rPr lang="en-US" sz="1600" dirty="0"/>
                  <a:t>log-accident rate baseline for country</a:t>
                </a:r>
              </a:p>
              <a:p>
                <a:pPr marL="1439862" lvl="4" indent="0">
                  <a:buNone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de-DE" i="1" baseline="-25000">
                        <a:latin typeface="Cambria Math" panose="02040503050406030204" pitchFamily="18" charset="0"/>
                      </a:rPr>
                      <m:t>𝑐𝑟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baseline="-25000" dirty="0"/>
                  <a:t> </a:t>
                </a:r>
                <a:r>
                  <a:rPr lang="en-US" sz="1600" dirty="0"/>
                  <a:t>variation between regions within country c</a:t>
                </a:r>
              </a:p>
              <a:p>
                <a:pPr marL="1439862" lvl="4" indent="0">
                  <a:buNone/>
                </a:pPr>
                <a:r>
                  <a:rPr lang="de-DE" sz="16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sepChr m:val=",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baseline="-25000" dirty="0"/>
                  <a:t>  </a:t>
                </a:r>
                <a:r>
                  <a:rPr lang="en-US" sz="1600" dirty="0"/>
                  <a:t>non-centered random effect for each region</a:t>
                </a:r>
                <a:endParaRPr lang="en-US" sz="1400" dirty="0"/>
              </a:p>
              <a:p>
                <a:pPr>
                  <a:lnSpc>
                    <a:spcPct val="150000"/>
                  </a:lnSpc>
                </a:pPr>
                <a:endParaRPr lang="en-US" sz="1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DE" sz="1800" b="1" dirty="0"/>
                  <a:t>Poisson </a:t>
                </a:r>
                <a:r>
                  <a:rPr lang="de-DE" sz="1800" b="1" dirty="0" err="1"/>
                  <a:t>likelihood</a:t>
                </a:r>
                <a:endParaRPr lang="de-DE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∼</m:t>
                    </m:r>
                    <m:r>
                      <a:rPr lang="de-DE" sz="1800" b="0" i="0" smtClean="0">
                        <a:latin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de-DE" sz="18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f>
                          <m:f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de-DE" sz="1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1800" b="0" i="0" smtClean="0">
                        <a:latin typeface="Cambria Math" panose="02040503050406030204" pitchFamily="18" charset="0"/>
                      </a:rPr>
                      <m:t>𝑤𝑖𝑡</m:t>
                    </m:r>
                    <m:r>
                      <a:rPr lang="de-DE" sz="18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de-DE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8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de-DE" sz="1800" i="1" baseline="-25000">
                        <a:latin typeface="Cambria Math" panose="02040503050406030204" pitchFamily="18" charset="0"/>
                      </a:rPr>
                      <m:t>𝑐𝑟</m:t>
                    </m:r>
                    <m:r>
                      <a:rPr lang="de-DE" sz="1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18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de-DE" sz="1800" i="1" baseline="-25000">
                        <a:latin typeface="Cambria Math" panose="02040503050406030204" pitchFamily="18" charset="0"/>
                      </a:rPr>
                      <m:t>𝑐𝑟</m:t>
                    </m:r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800" b="0" i="1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800" b="0" i="1" smtClean="0">
                        <a:latin typeface="Cambria Math" panose="02040503050406030204" pitchFamily="18" charset="0"/>
                      </a:rPr>
                      <m:t>population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8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8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600" dirty="0"/>
                  <a:t>Regions with sparse data are shrunk toward the country mean.</a:t>
                </a:r>
              </a:p>
              <a:p>
                <a:pPr lvl="1"/>
                <a:r>
                  <a:rPr lang="en-US" sz="1600" dirty="0"/>
                  <a:t>Regions with many accidents can deviate more.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12EDE88-5491-9F39-7BC7-6168DCB7A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58851" y="982014"/>
                <a:ext cx="6917791" cy="4893968"/>
              </a:xfrm>
              <a:prstGeom prst="rect">
                <a:avLst/>
              </a:prstGeom>
              <a:blipFill>
                <a:blip r:embed="rId2"/>
                <a:stretch>
                  <a:fillRect l="-70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33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86B1-12A2-19F3-3F4F-3EAA5F70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EBDD1-00A9-AA06-D8B8-4F6BE89F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accident</a:t>
            </a:r>
            <a:r>
              <a:rPr lang="de-DE" dirty="0"/>
              <a:t> </a:t>
            </a:r>
            <a:r>
              <a:rPr lang="de-DE" dirty="0" err="1"/>
              <a:t>rates</a:t>
            </a:r>
            <a:r>
              <a:rPr lang="de-DE" dirty="0"/>
              <a:t> per </a:t>
            </a:r>
            <a:r>
              <a:rPr lang="de-DE" dirty="0" err="1"/>
              <a:t>region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E10B86F-C6FC-C69D-A431-3F116CB84A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958851" y="873985"/>
                <a:ext cx="7754046" cy="21646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MCMC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draws samples from the </a:t>
                </a:r>
                <a:r>
                  <a:rPr lang="en-US" sz="1800" b="1" dirty="0"/>
                  <a:t>posterior distribution</a:t>
                </a:r>
                <a:r>
                  <a:rPr lang="en-US" sz="1800" dirty="0"/>
                  <a:t> of all model parameters.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b="1" dirty="0"/>
                  <a:t>Posterior</a:t>
                </a:r>
                <a:r>
                  <a:rPr lang="en-US" sz="1800" dirty="0"/>
                  <a:t> = “plausible values for rates given data and priors.”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800" dirty="0"/>
                  <a:t>Samples </a:t>
                </a:r>
                <a:r>
                  <a:rPr lang="de-DE" sz="1800" dirty="0" err="1"/>
                  <a:t>from</a:t>
                </a:r>
                <a:r>
                  <a:rPr lang="de-DE" sz="1800" dirty="0"/>
                  <a:t> </a:t>
                </a:r>
                <a:r>
                  <a:rPr lang="de-DE" sz="1800" dirty="0" err="1"/>
                  <a:t>posterior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i="1"/>
                      <m:t>𝑝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𝜇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𝑐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𝜂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</m:e>
                      <m:e>
                        <m:r>
                          <a:rPr lang="ar-AE"/>
                          <m:t>∣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𝑦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𝑁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E10B86F-C6FC-C69D-A431-3F116CB84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58851" y="873985"/>
                <a:ext cx="7754046" cy="2164695"/>
              </a:xfrm>
              <a:prstGeom prst="rect">
                <a:avLst/>
              </a:prstGeom>
              <a:blipFill>
                <a:blip r:embed="rId2"/>
                <a:stretch>
                  <a:fillRect l="-6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5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B1A4BD67-D4D1-AFC6-1DE4-DC2D03493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190" y="2675824"/>
            <a:ext cx="7609619" cy="363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9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9FEF-B05C-899C-69AF-63F260CA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A39F0-4888-B26F-CDE7-8E899DB6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accident</a:t>
            </a:r>
            <a:r>
              <a:rPr lang="de-DE" dirty="0"/>
              <a:t> </a:t>
            </a:r>
            <a:r>
              <a:rPr lang="de-DE" dirty="0" err="1"/>
              <a:t>rates</a:t>
            </a:r>
            <a:r>
              <a:rPr lang="de-DE" dirty="0"/>
              <a:t> per </a:t>
            </a:r>
            <a:r>
              <a:rPr lang="de-DE" dirty="0" err="1"/>
              <a:t>region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0F7C6BD-3CD2-AC62-567B-2BE18A6673E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958851" y="891490"/>
                <a:ext cx="7516673" cy="21296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b="1" dirty="0"/>
                  <a:t>Density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For each posterior draw </a:t>
                </a:r>
                <a14:m>
                  <m:oMath xmlns:m="http://schemas.openxmlformats.org/officeDocument/2006/math">
                    <m:r>
                      <a:rPr lang="en-US" sz="1800" i="1"/>
                      <m:t>𝑠</m:t>
                    </m:r>
                    <m:r>
                      <a:rPr lang="en-US" sz="1800"/>
                      <m:t>=</m:t>
                    </m:r>
                    <m:r>
                      <a:rPr lang="en-US" sz="1800"/>
                      <m:t>1</m:t>
                    </m:r>
                    <m:r>
                      <a:rPr lang="en-US" sz="1800"/>
                      <m:t>…</m:t>
                    </m:r>
                    <m:r>
                      <a:rPr lang="en-US" sz="1800" i="1"/>
                      <m:t>𝑆</m:t>
                    </m:r>
                  </m:oMath>
                </a14:m>
                <a:r>
                  <a:rPr lang="en-US" sz="1600" dirty="0"/>
                  <a:t>:</a:t>
                </a:r>
              </a:p>
              <a:p>
                <a:r>
                  <a:rPr lang="de-DE" sz="1600" dirty="0" err="1"/>
                  <a:t>Compute</a:t>
                </a:r>
                <a:r>
                  <a:rPr lang="de-DE" sz="1600" dirty="0"/>
                  <a:t> regional </a:t>
                </a:r>
                <a:r>
                  <a:rPr lang="de-DE" sz="1600" dirty="0" err="1"/>
                  <a:t>accident</a:t>
                </a:r>
                <a:r>
                  <a:rPr lang="de-DE" sz="1600" dirty="0"/>
                  <a:t> rate per 100.000: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)​=</m:t>
                    </m:r>
                    <m:r>
                      <m:rPr>
                        <m:sty m:val="p"/>
                      </m:rPr>
                      <a:rPr lang="pt-BR" sz="1600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de-DE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​+</m:t>
                    </m:r>
                    <m:sSub>
                      <m:sSubPr>
                        <m:ctrlPr>
                          <a:rPr lang="de-DE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d>
                      <m:dPr>
                        <m:ctrlPr>
                          <a:rPr lang="pt-BR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de-DE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1600" i="1" dirty="0" smtClean="0">
                        <a:latin typeface="Cambria Math" panose="02040503050406030204" pitchFamily="18" charset="0"/>
                      </a:rPr>
                      <m:t>)​)</m:t>
                    </m:r>
                  </m:oMath>
                </a14:m>
                <a:endParaRPr lang="de-DE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Weight each region by its population: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600" dirty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bSup>
                    <m:r>
                      <a:rPr lang="de-DE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de-DE" sz="16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de-DE" sz="1600" b="0" i="1" dirty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de-DE" sz="1600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de-DE" sz="1600" b="0" i="1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de-DE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de-DE" sz="1600" b="0" i="1" dirty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DE" sz="1600" b="0" i="1" dirty="0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de-DE" sz="1600" b="0" i="1" dirty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p>
                            </m:sSubSup>
                            <m:r>
                              <a:rPr lang="de-DE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600" b="0" i="1" dirty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DE" sz="1600" b="0" i="1" dirty="0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de-DE" sz="16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de-DE" sz="1600" i="1" dirty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de-DE" sz="1600" i="1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de-DE" sz="1600" i="1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r>
                              <a:rPr lang="de-DE" sz="16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600" i="1" dirty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DE" sz="1600" i="1" dirty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de-DE" sz="16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de-DE" sz="1600" i="1" dirty="0">
                        <a:latin typeface="Cambria Math" panose="02040503050406030204" pitchFamily="18" charset="0"/>
                      </a:rPr>
                      <m:t>​​</m:t>
                    </m:r>
                  </m:oMath>
                </a14:m>
                <a:r>
                  <a:rPr lang="de-DE" sz="1600" dirty="0"/>
                  <a:t> use Kernel </a:t>
                </a:r>
                <a:r>
                  <a:rPr lang="de-DE" sz="1600" dirty="0" err="1"/>
                  <a:t>density</a:t>
                </a:r>
                <a:r>
                  <a:rPr lang="de-DE" sz="1600" dirty="0"/>
                  <a:t> </a:t>
                </a:r>
                <a:r>
                  <a:rPr lang="de-DE" sz="1600" dirty="0" err="1"/>
                  <a:t>estimate</a:t>
                </a:r>
                <a:r>
                  <a:rPr lang="de-DE" sz="1600" dirty="0"/>
                  <a:t> (KDE) </a:t>
                </a:r>
                <a:r>
                  <a:rPr lang="de-DE" sz="1600" dirty="0" err="1"/>
                  <a:t>for</a:t>
                </a:r>
                <a:r>
                  <a:rPr lang="de-DE" sz="1600" dirty="0"/>
                  <a:t> </a:t>
                </a:r>
                <a:r>
                  <a:rPr lang="de-DE" sz="1600" dirty="0" err="1"/>
                  <a:t>plotting</a:t>
                </a:r>
                <a:r>
                  <a:rPr lang="de-DE" sz="1600" dirty="0"/>
                  <a:t> </a:t>
                </a:r>
                <a:r>
                  <a:rPr lang="de-DE" sz="1600" dirty="0" err="1"/>
                  <a:t>density</a:t>
                </a:r>
                <a:endParaRPr lang="en-US" sz="1600" dirty="0"/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30F7C6BD-3CD2-AC62-567B-2BE18A6673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58851" y="891490"/>
                <a:ext cx="7516673" cy="2129686"/>
              </a:xfrm>
              <a:prstGeom prst="rect">
                <a:avLst/>
              </a:prstGeom>
              <a:blipFill>
                <a:blip r:embed="rId2"/>
                <a:stretch>
                  <a:fillRect l="-649" b="-31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A761C0A-182C-FC27-1B5E-07C471FAB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082" y="3139959"/>
            <a:ext cx="6657486" cy="318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5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BED76-1CC3-6A19-D29C-A55D1DEA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05524-0F3E-0560-60A4-A3DF616C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Tennis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442C95-D115-AC9C-4370-154C90DBE2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8851" y="1725969"/>
            <a:ext cx="754084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Questions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“Are left-handed players more successful on specific surfaces?”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“Do players serve faster in important points (e.g. break or set points)?”</a:t>
            </a:r>
          </a:p>
        </p:txBody>
      </p:sp>
    </p:spTree>
    <p:extLst>
      <p:ext uri="{BB962C8B-B14F-4D97-AF65-F5344CB8AC3E}">
        <p14:creationId xmlns:p14="http://schemas.microsoft.com/office/powerpoint/2010/main" val="652755199"/>
      </p:ext>
    </p:extLst>
  </p:cSld>
  <p:clrMapOvr>
    <a:masterClrMapping/>
  </p:clrMapOvr>
</p:sld>
</file>

<file path=ppt/theme/theme1.xml><?xml version="1.0" encoding="utf-8"?>
<a:theme xmlns:a="http://schemas.openxmlformats.org/drawingml/2006/main" name="UT_pptmaster_gen_en">
  <a:themeElements>
    <a:clrScheme name="UT_pptmaster_gen_en 1">
      <a:dk1>
        <a:srgbClr val="333333"/>
      </a:dk1>
      <a:lt1>
        <a:srgbClr val="FFFFFF"/>
      </a:lt1>
      <a:dk2>
        <a:srgbClr val="A51E37"/>
      </a:dk2>
      <a:lt2>
        <a:srgbClr val="2D2015"/>
      </a:lt2>
      <a:accent1>
        <a:srgbClr val="ADB3B7"/>
      </a:accent1>
      <a:accent2>
        <a:srgbClr val="B4A069"/>
      </a:accent2>
      <a:accent3>
        <a:srgbClr val="FFFFFF"/>
      </a:accent3>
      <a:accent4>
        <a:srgbClr val="2A2A2A"/>
      </a:accent4>
      <a:accent5>
        <a:srgbClr val="D3D6D8"/>
      </a:accent5>
      <a:accent6>
        <a:srgbClr val="A3915E"/>
      </a:accent6>
      <a:hlink>
        <a:srgbClr val="32414B"/>
      </a:hlink>
      <a:folHlink>
        <a:srgbClr val="A51E37"/>
      </a:folHlink>
    </a:clrScheme>
    <a:fontScheme name="UT_pptmaster_gen_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UT_pptmaster_gen_en 1">
        <a:dk1>
          <a:srgbClr val="333333"/>
        </a:dk1>
        <a:lt1>
          <a:srgbClr val="FFFFFF"/>
        </a:lt1>
        <a:dk2>
          <a:srgbClr val="A51E37"/>
        </a:dk2>
        <a:lt2>
          <a:srgbClr val="2D2015"/>
        </a:lt2>
        <a:accent1>
          <a:srgbClr val="ADB3B7"/>
        </a:accent1>
        <a:accent2>
          <a:srgbClr val="B4A069"/>
        </a:accent2>
        <a:accent3>
          <a:srgbClr val="FFFFFF"/>
        </a:accent3>
        <a:accent4>
          <a:srgbClr val="2A2A2A"/>
        </a:accent4>
        <a:accent5>
          <a:srgbClr val="D3D6D8"/>
        </a:accent5>
        <a:accent6>
          <a:srgbClr val="A3915E"/>
        </a:accent6>
        <a:hlink>
          <a:srgbClr val="32414B"/>
        </a:hlink>
        <a:folHlink>
          <a:srgbClr val="A51E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T_pptmaster_science_en_cg_widescreen_16_9_v5.potx" id="{06B1E6C0-2744-4998-9F70-8997C402EA9A}" vid="{E7671902-D244-468F-8F85-A0F050A8ED07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307</Words>
  <Application>Microsoft Office PowerPoint</Application>
  <PresentationFormat>Breitbild</PresentationFormat>
  <Paragraphs>47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Times New Roman</vt:lpstr>
      <vt:lpstr>Wingdings</vt:lpstr>
      <vt:lpstr>UT_pptmaster_gen_en</vt:lpstr>
      <vt:lpstr>Data Literacy – Project Status  Is street traffic in the UK more  dangerous than in Germany?</vt:lpstr>
      <vt:lpstr>Datasets</vt:lpstr>
      <vt:lpstr>Normalization</vt:lpstr>
      <vt:lpstr>Expected accident rates per region</vt:lpstr>
      <vt:lpstr>Expected accident rates per region</vt:lpstr>
      <vt:lpstr>Expected accident rates per region</vt:lpstr>
      <vt:lpstr>Tennis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antialiasing</dc:title>
  <dc:creator>Julia</dc:creator>
  <cp:lastModifiedBy>Philipp Bauer</cp:lastModifiedBy>
  <cp:revision>231</cp:revision>
  <cp:lastPrinted>2017-02-09T07:55:59Z</cp:lastPrinted>
  <dcterms:modified xsi:type="dcterms:W3CDTF">2025-11-28T14:12:32Z</dcterms:modified>
</cp:coreProperties>
</file>